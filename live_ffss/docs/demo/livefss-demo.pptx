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6600" b="1">
                <a:solidFill>
                  <a:srgbClr val="FFFFFF"/>
                </a:solidFill>
                <a:latin typeface="Segoe UI"/>
              </a:rPr>
              <a:t>LiveFFSS</a:t>
            </a:r>
          </a:p>
          <a:p>
            <a:pPr algn="l">
              <a:spcBef>
                <a:spcPts val="1400"/>
              </a:spcBef>
            </a:pPr>
            <a:r>
              <a:rPr sz="2200" b="0">
                <a:solidFill>
                  <a:srgbClr val="E3F2FD"/>
                </a:solidFill>
                <a:latin typeface="Segoe UI"/>
              </a:rPr>
              <a:t>Suivi et organisation des compétitions de sauvetage sportif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064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FFFFFF"/>
                </a:solidFill>
                <a:latin typeface="Segoe UI"/>
              </a:rPr>
              <a:t>Démonstration  ·  [DATE]  ·  [PRÉSENTÉ PAR]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CONTEXTE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Pourquoi LiveFFSS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9304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234440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Aujourd'hui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[Comment se déroule l'organisation actuellement]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770632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715768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Les points de friction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[Ce qui coince : papier, tableurs, attente…]</a:t>
            </a:r>
          </a:p>
        </p:txBody>
      </p:sp>
      <p:sp>
        <p:nvSpPr>
          <p:cNvPr id="9" name="Rectangle 8"/>
          <p:cNvSpPr/>
          <p:nvPr/>
        </p:nvSpPr>
        <p:spPr>
          <a:xfrm>
            <a:off x="6370167" y="1289304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71335" y="1234440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Ce qu'on veut obtenir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[Objectif de l'application]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0167" y="2770632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1335" y="2715768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Qui s'en sert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[Organisateurs, jury, athlètes, public]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623560"/>
            <a:ext cx="10820095" cy="411480"/>
          </a:xfrm>
          <a:prstGeom prst="roundRect">
            <a:avLst/>
          </a:prstGeom>
          <a:solidFill>
            <a:srgbClr val="FFF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8A6200"/>
                </a:solidFill>
                <a:latin typeface="Segoe UI"/>
              </a:rPr>
              <a:t>  [À COMPLÉTER]  cette page est une trame — remplace les quatre blocs par ton propre contexte.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EN BREF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LiveFFSS en une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8200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212121"/>
                </a:solidFill>
                <a:latin typeface="Segoe UI"/>
              </a:rPr>
              <a:t>Une application mobile Flutter branchée sur l'API de la FFSS (ffss.fr), pour suivre une compétition de sauvetage sportif et pour l'organiser.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29383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74519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Deux usages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Consulter : compétitions, épreuves, engagés, clubs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Organiser : programme, séries, marshalling, bracelets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410711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3355847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Deux disciplines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Côtier (plage) — 16 places par course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Eau plate (bassin) — 8 places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0167" y="1929383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1335" y="1874519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Sans compte / avec compte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Tout le volet consultation est ouvert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La connexion FFSS débloque les actions d'organisation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70167" y="3410711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1335" y="3355847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Chiffres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12 écrans, 287 fichiers Dart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66 fichiers de tests unitaires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Interface bilingue FR / 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VUE D'ENSEMBLE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Carte de l'application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2331720" cy="914400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Accueil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recherche · filtres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51760"/>
            <a:ext cx="2331720" cy="777240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Favoris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703320"/>
            <a:ext cx="2331720" cy="777240"/>
          </a:xfrm>
          <a:prstGeom prst="roundRect">
            <a:avLst/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Connexion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profil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463040"/>
            <a:ext cx="2331720" cy="2057400"/>
          </a:xfrm>
          <a:prstGeom prst="round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Détail compétition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Évènements · Programme
Clubs · Points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3977639"/>
            <a:ext cx="2331720" cy="868680"/>
          </a:xfrm>
          <a:prstGeom prst="round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Bracelets RFID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écriture NFC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5120640"/>
            <a:ext cx="2331720" cy="868680"/>
          </a:xfrm>
          <a:prstGeom prst="round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Programme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structure · horaires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1463040"/>
            <a:ext cx="2331720" cy="1645920"/>
          </a:xfrm>
          <a:prstGeom prst="round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Détail épreuve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Engagés · Séries
Résumé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5120640"/>
            <a:ext cx="2331720" cy="868680"/>
          </a:xfrm>
          <a:prstGeom prst="round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Éditeur de structure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tours · bracket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38360" y="1463040"/>
            <a:ext cx="2331720" cy="868680"/>
          </a:xfrm>
          <a:prstGeom prst="round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Tirage des séries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38360" y="2606040"/>
            <a:ext cx="2331720" cy="868680"/>
          </a:xfrm>
          <a:prstGeom prst="roundRect">
            <a:avLst/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Course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résultats à venir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17520" y="1920240"/>
            <a:ext cx="685800" cy="274320"/>
          </a:xfrm>
          <a:prstGeom prst="bentConnector3">
            <a:avLst/>
          </a:prstGeom>
          <a:ln w="22225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017520" y="2560320"/>
            <a:ext cx="685800" cy="457200"/>
          </a:xfrm>
          <a:prstGeom prst="bentConnector3">
            <a:avLst/>
          </a:prstGeom>
          <a:ln w="22225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035040" y="2011680"/>
            <a:ext cx="685800" cy="182880"/>
          </a:xfrm>
          <a:prstGeom prst="bentConnector3">
            <a:avLst/>
          </a:prstGeom>
          <a:ln w="22225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892040" y="3520440"/>
            <a:ext cx="0" cy="457199"/>
          </a:xfrm>
          <a:prstGeom prst="bentConnector3">
            <a:avLst/>
          </a:prstGeom>
          <a:ln w="22225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892040" y="4846320"/>
            <a:ext cx="0" cy="274320"/>
          </a:xfrm>
          <a:prstGeom prst="bentConnector3">
            <a:avLst/>
          </a:prstGeom>
          <a:ln w="22225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35040" y="5532120"/>
            <a:ext cx="685800" cy="0"/>
          </a:xfrm>
          <a:prstGeom prst="bentConnector3">
            <a:avLst/>
          </a:prstGeom>
          <a:ln w="22225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052560" y="1920240"/>
            <a:ext cx="685800" cy="0"/>
          </a:xfrm>
          <a:prstGeom prst="bentConnector3">
            <a:avLst/>
          </a:prstGeom>
          <a:ln w="22225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052560" y="2560320"/>
            <a:ext cx="685800" cy="457200"/>
          </a:xfrm>
          <a:prstGeom prst="bentConnector3">
            <a:avLst/>
          </a:prstGeom>
          <a:ln w="22225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5897880"/>
            <a:ext cx="10820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Bleu : consultation, ouverte à tous.   Orange : organisation, réservée aux organisateurs.   Gris : écran incomplet.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CONVENTION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Comment lire les pastilles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8200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212121"/>
                </a:solidFill>
                <a:latin typeface="Segoe UI"/>
              </a:rPr>
              <a:t>Chaque écran de la démo porte une pastille d'état, en haut à droite.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29383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74519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Livré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L'écran fait ce qu'on attend de lui, avec de vraies données.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410711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3355847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Partiel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Fonctionne, mais avec une limite assumée — le plus souvent :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les données restent sur l'appareil, faute d'endpoint FFSS.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0167" y="1929383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1335" y="1874519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Coquille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L'écran existe et se navigue, son contenu reste à écrire.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70167" y="3410711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1335" y="3355847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Non implémenté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L'interface est prête, la source de données est bouchonnée.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1737360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B8C00"/>
                </a:solidFill>
                <a:latin typeface="Segoe UI"/>
              </a:rPr>
              <a:t>01</a:t>
            </a:r>
          </a:p>
          <a:p>
            <a:pPr algn="l">
              <a:spcBef>
                <a:spcPts val="600"/>
              </a:spcBef>
            </a:pPr>
            <a:r>
              <a:rPr sz="4400" b="1">
                <a:solidFill>
                  <a:srgbClr val="212121"/>
                </a:solidFill>
                <a:latin typeface="Segoe UI"/>
              </a:rPr>
              <a:t>Parcours spectateur</a:t>
            </a:r>
          </a:p>
          <a:p>
            <a:pPr algn="l">
              <a:spcBef>
                <a:spcPts val="1000"/>
              </a:spcBef>
            </a:pPr>
            <a:r>
              <a:rPr sz="1700" b="0">
                <a:solidFill>
                  <a:srgbClr val="616161"/>
                </a:solidFill>
                <a:latin typeface="Segoe UI"/>
              </a:rPr>
              <a:t>Ce que voit quelqu'un qui ouvre l'app sans compte.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ACCUEIL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Trouver une compétition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10896"/>
            <a:ext cx="644652" cy="292608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Livré</a:t>
            </a:r>
          </a:p>
        </p:txBody>
      </p:sp>
      <p:pic>
        <p:nvPicPr>
          <p:cNvPr id="6" name="Picture 5" descr="03-accueil-t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2425183" cy="5074920"/>
          </a:xfrm>
          <a:prstGeom prst="rect">
            <a:avLst/>
          </a:prstGeom>
          <a:ln w="9525">
            <a:solidFill>
              <a:srgbClr val="DDE3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751063" y="1325880"/>
            <a:ext cx="77548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212121"/>
                </a:solidFill>
                <a:latin typeface="Segoe UI"/>
              </a:rPr>
              <a:t>Le point d'entrée : toutes les compétitions FFSS, la plus proche en tête.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1063" y="2514600"/>
            <a:ext cx="775483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Trois vues : Vus récemment · Cette semaine · Tous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« Cette semaine » est filtrée côté serveur, pas dans l'app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Filtre de discipline : Tous / Eau plate / Côtier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Étoile pour suivre, pastille Ouvert / Fermé pour les engagements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Tirer vers le bas pour rafraîchir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ACCUEIL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Recherche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10896"/>
            <a:ext cx="644652" cy="292608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Livré</a:t>
            </a:r>
          </a:p>
        </p:txBody>
      </p:sp>
      <p:pic>
        <p:nvPicPr>
          <p:cNvPr id="6" name="Picture 5" descr="04-accueil-recherc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2425183" cy="5074920"/>
          </a:xfrm>
          <a:prstGeom prst="rect">
            <a:avLst/>
          </a:prstGeom>
          <a:ln w="9525">
            <a:solidFill>
              <a:srgbClr val="DDE3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751063" y="1325880"/>
            <a:ext cx="77548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212121"/>
                </a:solidFill>
                <a:latin typeface="Segoe UI"/>
              </a:rPr>
              <a:t>Recherche instantanée sur le nom et le lieu, appliquée à la vue courante.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1063" y="2514600"/>
            <a:ext cx="775483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Se combine avec le filtre de discipline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Chaque carte porte la date, le lieu et le logo du club organisateur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À défaut de logo, un bloc date lisible de loin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FAVORIS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Suivre ses compétitions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10896"/>
            <a:ext cx="644652" cy="292608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Livré</a:t>
            </a:r>
          </a:p>
        </p:txBody>
      </p:sp>
      <p:pic>
        <p:nvPicPr>
          <p:cNvPr id="6" name="Picture 5" descr="23-favo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2425183" cy="5074920"/>
          </a:xfrm>
          <a:prstGeom prst="rect">
            <a:avLst/>
          </a:prstGeom>
          <a:ln w="9525">
            <a:solidFill>
              <a:srgbClr val="DDE3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751063" y="1325880"/>
            <a:ext cx="77548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212121"/>
                </a:solidFill>
                <a:latin typeface="Segoe UI"/>
              </a:rPr>
              <a:t>Deuxième onglet de la barre inférieure : les compétitions mises en favori.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1063" y="2514600"/>
            <a:ext cx="775483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Aucun compte nécessaire — la liste vit dans le stockage sécurisé du téléphone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Même carte que l'accueil, retrait d'un tap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L'app garde aussi les 20 dernières compétitions consultées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COMPTE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Connexion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10896"/>
            <a:ext cx="800100" cy="292608"/>
          </a:xfrm>
          <a:prstGeom prst="round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Partiel</a:t>
            </a:r>
          </a:p>
        </p:txBody>
      </p:sp>
      <p:pic>
        <p:nvPicPr>
          <p:cNvPr id="6" name="Picture 5" descr="02-connex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2425183" cy="5074920"/>
          </a:xfrm>
          <a:prstGeom prst="rect">
            <a:avLst/>
          </a:prstGeom>
          <a:ln w="9525">
            <a:solidFill>
              <a:srgbClr val="DDE3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751063" y="1325880"/>
            <a:ext cx="77548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212121"/>
                </a:solidFill>
                <a:latin typeface="Segoe UI"/>
              </a:rPr>
              <a:t>Identifiant et mot de passe FFSS. Le jeton est conservé en stockage sécurisé.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1063" y="2514600"/>
            <a:ext cx="775483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La consultation ne demande jamais de compte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La connexion débloque le programme, le tirage et les bracelets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Expiration de session gérée globalement : déconnexion et retour ici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FB8C00"/>
                </a:solidFill>
                <a:latin typeface="Segoe UI"/>
              </a:rPr>
              <a:t>⚠  Cet écran est encore sur le thème Material par défaut — à aligner sur la charte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COMPTE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Profil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10896"/>
            <a:ext cx="644652" cy="292608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Livré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2423160" cy="5074920"/>
          </a:xfrm>
          <a:prstGeom prst="rect">
            <a:avLst/>
          </a:prstGeom>
          <a:solidFill>
            <a:srgbClr val="ECF1F5"/>
          </a:solidFill>
          <a:ln w="12700">
            <a:solidFill>
              <a:srgbClr val="C5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9E9E9E"/>
                </a:solidFill>
                <a:latin typeface="Segoe UI"/>
              </a:rPr>
              <a:t>Capture à insérer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40" y="1325880"/>
            <a:ext cx="77568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212121"/>
                </a:solidFill>
                <a:latin typeface="Segoe UI"/>
              </a:rPr>
              <a:t>Identité du licencié : nom, club, rôle, et déconnexion.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40" y="2514600"/>
            <a:ext cx="775685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Alimenté par l'endpoint FFSS du profil connecté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Le profil est mis en cache pour un démarrage hors ligne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FB8C00"/>
                </a:solidFill>
                <a:latin typeface="Segoe UI"/>
              </a:rPr>
              <a:t>⚠  Capture manquante : l'appareil de démo n'était pas connecté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40" y="5623560"/>
            <a:ext cx="7756855" cy="411480"/>
          </a:xfrm>
          <a:prstGeom prst="roundRect">
            <a:avLst/>
          </a:prstGeom>
          <a:solidFill>
            <a:srgbClr val="FFF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8A6200"/>
                </a:solidFill>
                <a:latin typeface="Segoe UI"/>
              </a:rPr>
              <a:t>  [À COMPLÉTER]  ouvre l'app connecté, capture l'écran Profil et dépose-le ici.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RÉGLAGES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Bilingue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10896"/>
            <a:ext cx="644652" cy="292608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Livré</a:t>
            </a:r>
          </a:p>
        </p:txBody>
      </p:sp>
      <p:pic>
        <p:nvPicPr>
          <p:cNvPr id="6" name="Picture 5" descr="24-lang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2425183" cy="5074920"/>
          </a:xfrm>
          <a:prstGeom prst="rect">
            <a:avLst/>
          </a:prstGeom>
          <a:ln w="9525">
            <a:solidFill>
              <a:srgbClr val="DDE3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751063" y="1325880"/>
            <a:ext cx="77548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212121"/>
                </a:solidFill>
                <a:latin typeface="Segoe UI"/>
              </a:rPr>
              <a:t>Français et anglais, le choix est persisté entre deux lancements.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1063" y="2514600"/>
            <a:ext cx="775483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Toutes les chaînes d'interface passent par le catalogue de traductions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Aucun texte en dur dans les écrans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1737360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B8C00"/>
                </a:solidFill>
                <a:latin typeface="Segoe UI"/>
              </a:rPr>
              <a:t>02</a:t>
            </a:r>
          </a:p>
          <a:p>
            <a:pPr algn="l">
              <a:spcBef>
                <a:spcPts val="600"/>
              </a:spcBef>
            </a:pPr>
            <a:r>
              <a:rPr sz="4400" b="1">
                <a:solidFill>
                  <a:srgbClr val="212121"/>
                </a:solidFill>
                <a:latin typeface="Segoe UI"/>
              </a:rPr>
              <a:t>La compétition</a:t>
            </a:r>
          </a:p>
          <a:p>
            <a:pPr algn="l">
              <a:spcBef>
                <a:spcPts val="1000"/>
              </a:spcBef>
            </a:pPr>
            <a:r>
              <a:rPr sz="1700" b="0">
                <a:solidFill>
                  <a:srgbClr val="616161"/>
                </a:solidFill>
                <a:latin typeface="Segoe UI"/>
              </a:rPr>
              <a:t>Quatre onglets : ce qui se court, quand, avec qui, et pour combien de points.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COMPÉTITION · ONGLET 1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Évènements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10896"/>
            <a:ext cx="644652" cy="292608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Livré</a:t>
            </a:r>
          </a:p>
        </p:txBody>
      </p:sp>
      <p:pic>
        <p:nvPicPr>
          <p:cNvPr id="6" name="Picture 5" descr="05-competition-epreu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2425183" cy="5074920"/>
          </a:xfrm>
          <a:prstGeom prst="rect">
            <a:avLst/>
          </a:prstGeom>
          <a:ln w="9525">
            <a:solidFill>
              <a:srgbClr val="DDE3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751063" y="1325880"/>
            <a:ext cx="77548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212121"/>
                </a:solidFill>
                <a:latin typeface="Segoe UI"/>
              </a:rPr>
              <a:t>L'en-tête porte les dates, le lieu, le club organisateur et les accès organisateur.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1063" y="2514600"/>
            <a:ext cx="775483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Une épreuve = discipline × sexe × catégorie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Filtre Côtier / Eau plate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Icône calendrier : construction du programme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Icône NFC : écriture des bracelets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Étoile : mise en favori depuis la fiche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COMPÉTITION · ONGLET 3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Clubs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10896"/>
            <a:ext cx="644652" cy="292608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Livré</a:t>
            </a:r>
          </a:p>
        </p:txBody>
      </p:sp>
      <p:pic>
        <p:nvPicPr>
          <p:cNvPr id="6" name="Picture 5" descr="07-competition-clu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2425183" cy="5074920"/>
          </a:xfrm>
          <a:prstGeom prst="rect">
            <a:avLst/>
          </a:prstGeom>
          <a:ln w="9525">
            <a:solidFill>
              <a:srgbClr val="DDE3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751063" y="1325880"/>
            <a:ext cx="77548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212121"/>
                </a:solidFill>
                <a:latin typeface="Segoe UI"/>
              </a:rPr>
              <a:t>Tous les clubs engagés, avec leur effectif d'athlètes et d'arbitres.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1063" y="2514600"/>
            <a:ext cx="775483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Recherche transverse : club, athlète ou arbitre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Logo du club, puis bonnet, puis initiale — jamais d'icône générique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Les clubs étrangers et les invités sont résolus eux aussi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COMPÉTITION · ONGLET 3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Clubs — le détail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10896"/>
            <a:ext cx="644652" cy="292608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Livré</a:t>
            </a:r>
          </a:p>
        </p:txBody>
      </p:sp>
      <p:pic>
        <p:nvPicPr>
          <p:cNvPr id="6" name="Picture 5" descr="09-clubs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2425183" cy="5074920"/>
          </a:xfrm>
          <a:prstGeom prst="rect">
            <a:avLst/>
          </a:prstGeom>
          <a:ln w="9525">
            <a:solidFill>
              <a:srgbClr val="DDE3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751063" y="1325880"/>
            <a:ext cx="77548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212121"/>
                </a:solidFill>
                <a:latin typeface="Segoe UI"/>
              </a:rPr>
              <a:t>Déplier un club donne la liste nominative de ses athlètes et arbitres.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1063" y="2514600"/>
            <a:ext cx="775483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Utile au pointage d'arrivée d'une délégation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Même source que la liste des engagés d'une épreuve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COMPÉTITION · ONGLET 4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10896"/>
            <a:ext cx="1344168" cy="292608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Non implémenté</a:t>
            </a:r>
          </a:p>
        </p:txBody>
      </p:sp>
      <p:pic>
        <p:nvPicPr>
          <p:cNvPr id="6" name="Picture 5" descr="08-competition-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2425183" cy="5074920"/>
          </a:xfrm>
          <a:prstGeom prst="rect">
            <a:avLst/>
          </a:prstGeom>
          <a:ln w="9525">
            <a:solidFill>
              <a:srgbClr val="DDE3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751063" y="1325880"/>
            <a:ext cx="77548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212121"/>
                </a:solidFill>
                <a:latin typeface="Segoe UI"/>
              </a:rPr>
              <a:t>Trois classements prévus : par club, individuel, et relais.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1063" y="2514600"/>
            <a:ext cx="775483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L'écran, la navigation et l'état vide sont en place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FB8C00"/>
                </a:solidFill>
                <a:latin typeface="Segoe UI"/>
              </a:rPr>
              <a:t>⚠  Les endpoints de classement FFSS ne sont pas documentés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FB8C00"/>
                </a:solidFill>
                <a:latin typeface="Segoe UI"/>
              </a:rPr>
              <a:t>⚠  La source de données renvoie des listes vides — rien à afficher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Le jour où le backend arrive, seule la source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COMPÉTITION · ONGLET 2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Programme (lecture)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10896"/>
            <a:ext cx="800100" cy="292608"/>
          </a:xfrm>
          <a:prstGeom prst="round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Partiel</a:t>
            </a:r>
          </a:p>
        </p:txBody>
      </p:sp>
      <p:pic>
        <p:nvPicPr>
          <p:cNvPr id="6" name="Picture 5" descr="06b-competition-programme-defi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2425183" cy="5074920"/>
          </a:xfrm>
          <a:prstGeom prst="rect">
            <a:avLst/>
          </a:prstGeom>
          <a:ln w="9525">
            <a:solidFill>
              <a:srgbClr val="DDE3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751063" y="1325880"/>
            <a:ext cx="77548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212121"/>
                </a:solidFill>
                <a:latin typeface="Segoe UI"/>
              </a:rPr>
              <a:t>La vue publique du déroulé : par jour, par site, heure par heure.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1063" y="2514600"/>
            <a:ext cx="775483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Une ligne par course, avec son créneau et sa durée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Liseré bleu pour les séries, vert pour les finales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FB8C00"/>
                </a:solidFill>
                <a:latin typeface="Segoe UI"/>
              </a:rPr>
              <a:t>⚠  Alimenté par le programme construit dans l'app, pas par le serveur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1737360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B8C00"/>
                </a:solidFill>
                <a:latin typeface="Segoe UI"/>
              </a:rPr>
              <a:t>03</a:t>
            </a:r>
          </a:p>
          <a:p>
            <a:pPr algn="l">
              <a:spcBef>
                <a:spcPts val="600"/>
              </a:spcBef>
            </a:pPr>
            <a:r>
              <a:rPr sz="4400" b="1">
                <a:solidFill>
                  <a:srgbClr val="212121"/>
                </a:solidFill>
                <a:latin typeface="Segoe UI"/>
              </a:rPr>
              <a:t>L'épreuve et le marshalling</a:t>
            </a:r>
          </a:p>
          <a:p>
            <a:pPr algn="l">
              <a:spcBef>
                <a:spcPts val="1000"/>
              </a:spcBef>
            </a:pPr>
            <a:r>
              <a:rPr sz="1700" b="0">
                <a:solidFill>
                  <a:srgbClr val="616161"/>
                </a:solidFill>
                <a:latin typeface="Segoe UI"/>
              </a:rPr>
              <a:t>Là où se joue la journée : qui est là, dans quelle série, et à quelle heure.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ÉPREUVE · ONGLET 1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Engagés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10896"/>
            <a:ext cx="644652" cy="292608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Livré</a:t>
            </a:r>
          </a:p>
        </p:txBody>
      </p:sp>
      <p:pic>
        <p:nvPicPr>
          <p:cNvPr id="6" name="Picture 5" descr="10-epreuve-eng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2425183" cy="5074920"/>
          </a:xfrm>
          <a:prstGeom prst="rect">
            <a:avLst/>
          </a:prstGeom>
          <a:ln w="9525">
            <a:solidFill>
              <a:srgbClr val="DDE3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751063" y="1325880"/>
            <a:ext cx="77548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212121"/>
                </a:solidFill>
                <a:latin typeface="Segoe UI"/>
              </a:rPr>
              <a:t>Les athlètes inscrits sur l'épreuve, avec club et année de naissance.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1063" y="2514600"/>
            <a:ext cx="775483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Tri par nom, par club ou par dossard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Chaque athlète porte un état de présence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Rafraîchissement automatique toutes les 10 secondes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Le bonnet du club sert de vignette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ÉPREUVE · ONGLET 1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Pointer les présents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10896"/>
            <a:ext cx="800100" cy="292608"/>
          </a:xfrm>
          <a:prstGeom prst="round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Partiel</a:t>
            </a:r>
          </a:p>
        </p:txBody>
      </p:sp>
      <p:pic>
        <p:nvPicPr>
          <p:cNvPr id="6" name="Picture 5" descr="10b-engages-pres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2425183" cy="5074920"/>
          </a:xfrm>
          <a:prstGeom prst="rect">
            <a:avLst/>
          </a:prstGeom>
          <a:ln w="9525">
            <a:solidFill>
              <a:srgbClr val="DDE3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751063" y="1325880"/>
            <a:ext cx="77548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212121"/>
                </a:solidFill>
                <a:latin typeface="Segoe UI"/>
              </a:rPr>
              <a:t>Le cœur du marshalling : valider qui se présente au départ.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1063" y="2514600"/>
            <a:ext cx="775483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Un tap bascule « En attente » en « Présent »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Ou scan du bracelet NFC, sans toucher la liste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Le pointage alimente directement le tirage des séries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Conservé entre deux rafraîchissements et deux ouvertures de l'app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FB8C00"/>
                </a:solidFill>
                <a:latin typeface="Segoe UI"/>
              </a:rPr>
              <a:t>⚠  Stocké sur l'appareil : deux téléphones qui pointent la même épreuve ne voient pas le travail de l'autre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BRACELETS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Écrire les bracelets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10896"/>
            <a:ext cx="644652" cy="292608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Livré</a:t>
            </a:r>
          </a:p>
        </p:txBody>
      </p:sp>
      <p:pic>
        <p:nvPicPr>
          <p:cNvPr id="6" name="Picture 5" descr="21-rfid-wri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2425183" cy="5074920"/>
          </a:xfrm>
          <a:prstGeom prst="rect">
            <a:avLst/>
          </a:prstGeom>
          <a:ln w="9525">
            <a:solidFill>
              <a:srgbClr val="DDE3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751063" y="1325880"/>
            <a:ext cx="77548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212121"/>
                </a:solidFill>
                <a:latin typeface="Segoe UI"/>
              </a:rPr>
              <a:t>Encodage NFC des bracelets, en amont de la compétition.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1063" y="2514600"/>
            <a:ext cx="775483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Tous les athlètes de la compétition, recherche par nom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Chaque ligne affiche la charge utile qui sera écrite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Doublons entre clubs dédupliqués automatiquement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Accessible depuis l'en-tête de la compétition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BRACELETS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Le format du bracelet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10896"/>
            <a:ext cx="644652" cy="292608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Livré</a:t>
            </a:r>
          </a:p>
        </p:txBody>
      </p:sp>
      <p:pic>
        <p:nvPicPr>
          <p:cNvPr id="6" name="Picture 5" descr="22-rfid-ecri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2425183" cy="5074920"/>
          </a:xfrm>
          <a:prstGeom prst="rect">
            <a:avLst/>
          </a:prstGeom>
          <a:ln w="9525">
            <a:solidFill>
              <a:srgbClr val="DDE3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751063" y="1325880"/>
            <a:ext cx="77548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212121"/>
                </a:solidFill>
                <a:latin typeface="Segoe UI"/>
              </a:rPr>
              <a:t>licence | sexe | type | département | club ; NOM — relu tel quel au marshalling.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1063" y="2514600"/>
            <a:ext cx="775483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Écriture au contact, une pression sur l'athlète sélectionné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FB8C00"/>
                </a:solidFill>
                <a:latin typeface="Segoe UI"/>
              </a:rPr>
              <a:t>⚠  L'émulateur n'a pas de puce NFC, d'où le message d'erreur sur la capture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Sur téléphone équipé, l'écriture et le scan fonctionnent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Un bracelet mal écrit peut être réécrit sans limite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ÉPREUVE · ONGLET 2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Séries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10896"/>
            <a:ext cx="644652" cy="292608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Livré</a:t>
            </a:r>
          </a:p>
        </p:txBody>
      </p:sp>
      <p:pic>
        <p:nvPicPr>
          <p:cNvPr id="6" name="Picture 5" descr="11-epreuve-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2425183" cy="5074920"/>
          </a:xfrm>
          <a:prstGeom prst="rect">
            <a:avLst/>
          </a:prstGeom>
          <a:ln w="9525">
            <a:solidFill>
              <a:srgbClr val="DDE3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751063" y="1325880"/>
            <a:ext cx="77548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212121"/>
                </a:solidFill>
                <a:latin typeface="Segoe UI"/>
              </a:rPr>
              <a:t>La structure de l'épreuve : les tours, leurs courses, leurs places.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1063" y="2514600"/>
            <a:ext cx="775483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Séries, quarts, demi-finales, finale selon ce qui est défini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« Générer les séries » lance le tirage sur les présents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Ouvrir une série donne accès à sa course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Reste vide tant qu'aucune structure n'est définie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ÉPREUVE · ONGLET 3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Résumé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10896"/>
            <a:ext cx="877824" cy="292608"/>
          </a:xfrm>
          <a:prstGeom prst="roundRect">
            <a:avLst/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Coquille</a:t>
            </a:r>
          </a:p>
        </p:txBody>
      </p:sp>
      <p:pic>
        <p:nvPicPr>
          <p:cNvPr id="6" name="Picture 5" descr="12-epreuve-res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2425183" cy="5074920"/>
          </a:xfrm>
          <a:prstGeom prst="rect">
            <a:avLst/>
          </a:prstGeom>
          <a:ln w="9525">
            <a:solidFill>
              <a:srgbClr val="DDE3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751063" y="1325880"/>
            <a:ext cx="77548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212121"/>
                </a:solidFill>
                <a:latin typeface="Segoe UI"/>
              </a:rPr>
              <a:t>Vue de synthèse d'une épreuve une fois courue.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1063" y="2514600"/>
            <a:ext cx="775483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</a:pPr>
            <a:r>
              <a:rPr sz="1300" b="0">
                <a:solidFill>
                  <a:srgbClr val="FB8C00"/>
                </a:solidFill>
                <a:latin typeface="Segoe UI"/>
              </a:rPr>
              <a:t>⚠  Dépend des résultats, qui ne sont pas disponibles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L'écran et son état vide existent, le contenu reste à écrire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COURSE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Une course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10896"/>
            <a:ext cx="877824" cy="292608"/>
          </a:xfrm>
          <a:prstGeom prst="roundRect">
            <a:avLst/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Coquille</a:t>
            </a:r>
          </a:p>
        </p:txBody>
      </p:sp>
      <p:pic>
        <p:nvPicPr>
          <p:cNvPr id="6" name="Picture 5" descr="20-cou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2425183" cy="5074920"/>
          </a:xfrm>
          <a:prstGeom prst="rect">
            <a:avLst/>
          </a:prstGeom>
          <a:ln w="9525">
            <a:solidFill>
              <a:srgbClr val="DDE3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751063" y="1325880"/>
            <a:ext cx="77548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212121"/>
                </a:solidFill>
                <a:latin typeface="Segoe UI"/>
              </a:rPr>
              <a:t>Ouverte depuis une série : épreuve, catégorie, niveau et numéro de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1063" y="2514600"/>
            <a:ext cx="775483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C'est ici que se feront la saisie et l'affichage des résultats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FB8C00"/>
                </a:solidFill>
                <a:latin typeface="Segoe UI"/>
              </a:rPr>
              <a:t>⚠  Les endpoints de résultats FFSS ne sont pas documentés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Le contexte est déjà transmis correctement — il ne manque que les données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1737360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B8C00"/>
                </a:solidFill>
                <a:latin typeface="Segoe UI"/>
              </a:rPr>
              <a:t>04</a:t>
            </a:r>
          </a:p>
          <a:p>
            <a:pPr algn="l">
              <a:spcBef>
                <a:spcPts val="600"/>
              </a:spcBef>
            </a:pPr>
            <a:r>
              <a:rPr sz="4400" b="1">
                <a:solidFill>
                  <a:srgbClr val="212121"/>
                </a:solidFill>
                <a:latin typeface="Segoe UI"/>
              </a:rPr>
              <a:t>Construire le programme</a:t>
            </a:r>
          </a:p>
          <a:p>
            <a:pPr algn="l">
              <a:spcBef>
                <a:spcPts val="1000"/>
              </a:spcBef>
            </a:pPr>
            <a:r>
              <a:rPr sz="1700" b="0">
                <a:solidFill>
                  <a:srgbClr val="616161"/>
                </a:solidFill>
                <a:latin typeface="Segoe UI"/>
              </a:rPr>
              <a:t>De la liste des engagés à une grille horaire, en trois étapes.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PROGRAMME · STRUCTURE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L'inventaire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10896"/>
            <a:ext cx="644652" cy="292608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Livré</a:t>
            </a:r>
          </a:p>
        </p:txBody>
      </p:sp>
      <p:pic>
        <p:nvPicPr>
          <p:cNvPr id="6" name="Picture 5" descr="13-programme-structure-v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2425183" cy="5074920"/>
          </a:xfrm>
          <a:prstGeom prst="rect">
            <a:avLst/>
          </a:prstGeom>
          <a:ln w="9525">
            <a:solidFill>
              <a:srgbClr val="DDE3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751063" y="1325880"/>
            <a:ext cx="77548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212121"/>
                </a:solidFill>
                <a:latin typeface="Segoe UI"/>
              </a:rPr>
              <a:t>Une ligne par épreuve × catégorie, avec son nombre d'engagés.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1063" y="2514600"/>
            <a:ext cx="775483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« Aucun déroulement FFSS » = le serveur ne connaît pas encore le format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Deux actions en masse : générer toutes les structures, créer les déroulements manquants côté FFSS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C'est la seule écriture réelle de l'app vers le serveur, hors connexion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PROGRAMME · STRUCTURE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Génération automatique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10896"/>
            <a:ext cx="644652" cy="292608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Livré</a:t>
            </a:r>
          </a:p>
        </p:txBody>
      </p:sp>
      <p:pic>
        <p:nvPicPr>
          <p:cNvPr id="6" name="Picture 5" descr="14-programme-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2425183" cy="5074920"/>
          </a:xfrm>
          <a:prstGeom prst="rect">
            <a:avLst/>
          </a:prstGeom>
          <a:ln w="9525">
            <a:solidFill>
              <a:srgbClr val="DDE3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751063" y="1325880"/>
            <a:ext cx="77548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212121"/>
                </a:solidFill>
                <a:latin typeface="Segoe UI"/>
              </a:rPr>
              <a:t>L'app propose un format à partir du nombre d'engagés et des places par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1063" y="2514600"/>
            <a:ext cx="775483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16 places par course en côtier, 8 en eau plate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Si la FFSS connaît déjà un déroulement, il sert de base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Chaque ligne reste modifiable individuellement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PROGRAMME · STRUCTURE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Éditeur de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10896"/>
            <a:ext cx="644652" cy="292608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Livré</a:t>
            </a:r>
          </a:p>
        </p:txBody>
      </p:sp>
      <p:pic>
        <p:nvPicPr>
          <p:cNvPr id="6" name="Picture 5" descr="15-structure-ed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2425183" cy="5074920"/>
          </a:xfrm>
          <a:prstGeom prst="rect">
            <a:avLst/>
          </a:prstGeom>
          <a:ln w="9525">
            <a:solidFill>
              <a:srgbClr val="DDE3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751063" y="1325880"/>
            <a:ext cx="77548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212121"/>
                </a:solidFill>
                <a:latin typeface="Segoe UI"/>
              </a:rPr>
              <a:t>Le format d'une épreuve, tour par tour.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1063" y="2514600"/>
            <a:ext cx="775483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Niveaux : séries, quarts, demi-finales, finale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Par niveau : nombre de courses, places par course, qualifiés par course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« Proposer une structure » recalcule tout d'un coup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Supprimer un niveau le supprime aussi côté FFSS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PROGRAMME · STRUCTURE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Vue bracket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10896"/>
            <a:ext cx="644652" cy="292608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Livré</a:t>
            </a:r>
          </a:p>
        </p:txBody>
      </p:sp>
      <p:pic>
        <p:nvPicPr>
          <p:cNvPr id="6" name="Picture 5" descr="16-structure-bra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2425183" cy="5074920"/>
          </a:xfrm>
          <a:prstGeom prst="rect">
            <a:avLst/>
          </a:prstGeom>
          <a:ln w="9525">
            <a:solidFill>
              <a:srgbClr val="DDE3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751063" y="1325880"/>
            <a:ext cx="77548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212121"/>
                </a:solidFill>
                <a:latin typeface="Segoe UI"/>
              </a:rPr>
              <a:t>La même structure, lue comme un tableau de qualification.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1063" y="2514600"/>
            <a:ext cx="775483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Contrôle visuel avant de figer le format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Bascule liste / bracket depuis l'en-tête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PROGRAMME · HORAIRES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Les sites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10896"/>
            <a:ext cx="644652" cy="292608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Livré</a:t>
            </a:r>
          </a:p>
        </p:txBody>
      </p:sp>
      <p:pic>
        <p:nvPicPr>
          <p:cNvPr id="6" name="Picture 5" descr="17b-programme-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2425183" cy="5074920"/>
          </a:xfrm>
          <a:prstGeom prst="rect">
            <a:avLst/>
          </a:prstGeom>
          <a:ln w="9525">
            <a:solidFill>
              <a:srgbClr val="DDE3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751063" y="1325880"/>
            <a:ext cx="77548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212121"/>
                </a:solidFill>
                <a:latin typeface="Segoe UI"/>
              </a:rPr>
              <a:t>Un site est un lieu de course : plage, zone de sable, bassin.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1063" y="2514600"/>
            <a:ext cx="775483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Plusieurs sites peuvent tourner en parallèle sur une même journée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Le type conditionne les épreuves qu'on y planifie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PROGRAMME · HORAIRES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La grille horaire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10896"/>
            <a:ext cx="644652" cy="292608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Livré</a:t>
            </a:r>
          </a:p>
        </p:txBody>
      </p:sp>
      <p:pic>
        <p:nvPicPr>
          <p:cNvPr id="6" name="Picture 5" descr="17-programme-hora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2425183" cy="5074920"/>
          </a:xfrm>
          <a:prstGeom prst="rect">
            <a:avLst/>
          </a:prstGeom>
          <a:ln w="9525">
            <a:solidFill>
              <a:srgbClr val="DDE3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751063" y="1325880"/>
            <a:ext cx="77548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212121"/>
                </a:solidFill>
                <a:latin typeface="Segoe UI"/>
              </a:rPr>
              <a:t>Par jour et par site : la file des courses, avec heure de départ et durée.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1063" y="2514600"/>
            <a:ext cx="775483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Heure de départ de la journée réglable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Réordonnancement par glisser-déposer, durée ajustable course par course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Les horaires se recalculent en cascade à chaque changement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Les courses non planifiées restent listées en bas de l'écran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TIRAGE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Le tirage des séries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10896"/>
            <a:ext cx="644652" cy="292608"/>
          </a:xfrm>
          <a:prstGeom prst="round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Livré</a:t>
            </a:r>
          </a:p>
        </p:txBody>
      </p:sp>
      <p:pic>
        <p:nvPicPr>
          <p:cNvPr id="6" name="Picture 5" descr="18-tirage-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2425183" cy="5074920"/>
          </a:xfrm>
          <a:prstGeom prst="rect">
            <a:avLst/>
          </a:prstGeom>
          <a:ln w="9525">
            <a:solidFill>
              <a:srgbClr val="DDE3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751063" y="1325880"/>
            <a:ext cx="77548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212121"/>
                </a:solidFill>
                <a:latin typeface="Segoe UI"/>
              </a:rPr>
              <a:t>Répartit les athlètes présents dans les courses du tour choisi.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1063" y="2514600"/>
            <a:ext cx="775483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Le compteur « présents sur engagés » rend la décision explicite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Répartition équilibrée entre les courses, ordre aléatoire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Échange de deux athlètes de couloir, relance possible du tirage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Le niveau se choisit en haut : séries, puis finale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TIRAGE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Séries enregistrées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7135" y="310896"/>
            <a:ext cx="800100" cy="292608"/>
          </a:xfrm>
          <a:prstGeom prst="round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Partiel</a:t>
            </a:r>
          </a:p>
        </p:txBody>
      </p:sp>
      <p:pic>
        <p:nvPicPr>
          <p:cNvPr id="6" name="Picture 5" descr="19-series-apres-ti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2425183" cy="5074920"/>
          </a:xfrm>
          <a:prstGeom prst="rect">
            <a:avLst/>
          </a:prstGeom>
          <a:ln w="9525">
            <a:solidFill>
              <a:srgbClr val="DDE3E8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751063" y="1325880"/>
            <a:ext cx="77548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212121"/>
                </a:solidFill>
                <a:latin typeface="Segoe UI"/>
              </a:rPr>
              <a:t>Une fois sauvegardé, le tirage est visible depuis l'épreuve.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51063" y="2514600"/>
            <a:ext cx="775483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Chaque série affiche son effectif réel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616161"/>
                </a:solidFill>
                <a:latin typeface="Segoe UI"/>
              </a:rPr>
              <a:t>•  Le programme et la vue publique reflètent immédiatement le tirage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FB8C00"/>
                </a:solidFill>
                <a:latin typeface="Segoe UI"/>
              </a:rPr>
              <a:t>⚠  La FFSS n'expose aucun endpoint d'écriture des séries : le tirage vit sur l'appareil qui l'a fait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1737360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B8C00"/>
                </a:solidFill>
                <a:latin typeface="Segoe UI"/>
              </a:rPr>
              <a:t>05</a:t>
            </a:r>
          </a:p>
          <a:p>
            <a:pPr algn="l">
              <a:spcBef>
                <a:spcPts val="600"/>
              </a:spcBef>
            </a:pPr>
            <a:r>
              <a:rPr sz="4400" b="1">
                <a:solidFill>
                  <a:srgbClr val="212121"/>
                </a:solidFill>
                <a:latin typeface="Segoe UI"/>
              </a:rPr>
              <a:t>Sous le capot</a:t>
            </a:r>
          </a:p>
          <a:p>
            <a:pPr algn="l">
              <a:spcBef>
                <a:spcPts val="1000"/>
              </a:spcBef>
            </a:pPr>
            <a:r>
              <a:rPr sz="1700" b="0">
                <a:solidFill>
                  <a:srgbClr val="616161"/>
                </a:solidFill>
                <a:latin typeface="Segoe UI"/>
              </a:rPr>
              <a:t>Trois pages pour situer l'architecture et ses limites.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TECHNIQUE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8200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212121"/>
                </a:solidFill>
                <a:latin typeface="Segoe UI"/>
              </a:rPr>
              <a:t>Flutter / Dart, trois couches, une règle : chaque domaine possède les siennes.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29383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74519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Controller → Repository → DataSource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Le controller porte l'état de l'écran, jamais d'appel réseau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Le repository orchestre (pagination, composition)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La source de données parle HTTP et rien d'autre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410711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3355847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Du JSON au domaine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DTO calqués sur le JSON FFSS, champs en français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Un mapper les traduit en modèles typés, en anglais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Modèles immuables, sérialisation générée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0167" y="1929383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1335" y="1874519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Sept domaines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auth · club · compétition · épreuve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meeting · résultat · classement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Un seul point d'injection au démarrage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70167" y="3410711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1335" y="3355847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Conventions tenues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Pas de contexte graphique ni de traduction dans les controllers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Injection par constructeur uniquement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Analyse statique stricte, pas de conversions implicites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TECHNIQUE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L'API FFSS : ce qu'on peut, ce qu'on ne peut 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8200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212121"/>
                </a:solidFill>
                <a:latin typeface="Segoe UI"/>
              </a:rPr>
              <a:t>L'API est externe et figée. Elle décide de ce que l'app sait faire.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29383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74519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Ce qu'on lit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Compétitions, épreuves, engagements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Clubs, athlètes, arbitres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Déroulements (formats d'épreuve)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Profil du licencié connecté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410711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3355847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Ce qu'on écrit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Authentification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Création et suppression de déroulement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…et c'est tout.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0167" y="1929383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1335" y="1874519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Ce qui n'existe pas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FB8C00"/>
                </a:solidFill>
                <a:latin typeface="Segoe UI"/>
              </a:rPr>
              <a:t>⚠  Résultats et temps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FB8C00"/>
                </a:solidFill>
                <a:latin typeface="Segoe UI"/>
              </a:rPr>
              <a:t>⚠  Classements de compétition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FB8C00"/>
                </a:solidFill>
                <a:latin typeface="Segoe UI"/>
              </a:rPr>
              <a:t>⚠  Séries et compositions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FB8C00"/>
                </a:solidFill>
                <a:latin typeface="Segoe UI"/>
              </a:rPr>
              <a:t>⚠  Présence au marshalling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70167" y="3410711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1335" y="3355847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La conséquence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Tout ce qui touche au déroulé du jour J reste sur l'appareil.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C'est le verrou principal, et il n'est pas de notre côté.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TECHNIQUE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Ce qui vit sur le téléphone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8200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212121"/>
                </a:solidFill>
                <a:latin typeface="Segoe UI"/>
              </a:rPr>
              <a:t>Faute d'endpoints, plusieurs briques sont persistées localement, en stockage sécurisé.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29383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74519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Ce qui est stocké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Jeton d'authentification et profil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Favoris et compétitions récemment consultées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Présence au marshalling, par épreuve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Programme complet : structures, sites, horaires, séries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410711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3355847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Les limites à dire en démo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FB8C00"/>
                </a:solidFill>
                <a:latin typeface="Segoe UI"/>
              </a:rPr>
              <a:t>⚠  Rien n'est partagé entre deux appareils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FB8C00"/>
                </a:solidFill>
                <a:latin typeface="Segoe UI"/>
              </a:rPr>
              <a:t>⚠  Une réinstallation efface le programme construit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FB8C00"/>
                </a:solidFill>
                <a:latin typeface="Segoe UI"/>
              </a:rPr>
              <a:t>⚠  Pas de reprise si le téléphone du chrono tombe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0167" y="1929383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1335" y="1874519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Tests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66 fichiers de tests unitaires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Mappers, repositories, controllers, client HTTP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Pas de tests d'interface : vérification manuelle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70167" y="3410711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1335" y="3355847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Ce que ça coûterait de lever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Un endpoint d'écriture programme/séries côté FFSS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Le reste de l'app est déjà découpé pour l'accueillir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1737360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B8C00"/>
                </a:solidFill>
                <a:latin typeface="Segoe UI"/>
              </a:rPr>
              <a:t>06</a:t>
            </a:r>
          </a:p>
          <a:p>
            <a:pPr algn="l">
              <a:spcBef>
                <a:spcPts val="600"/>
              </a:spcBef>
            </a:pPr>
            <a:r>
              <a:rPr sz="4400" b="1">
                <a:solidFill>
                  <a:srgbClr val="212121"/>
                </a:solidFill>
                <a:latin typeface="Segoe UI"/>
              </a:rPr>
              <a:t>Ce qu'il reste à faire</a:t>
            </a:r>
          </a:p>
          <a:p>
            <a:pPr algn="l">
              <a:spcBef>
                <a:spcPts val="1000"/>
              </a:spcBef>
            </a:pPr>
            <a:r>
              <a:rPr sz="1700" b="0">
                <a:solidFill>
                  <a:srgbClr val="616161"/>
                </a:solidFill>
                <a:latin typeface="Segoe UI"/>
              </a:rPr>
              <a:t>L'état écran par écran, puis les chantiers.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RÉCAPITULATIF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État écran par écran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88720"/>
          <a:ext cx="10911533" cy="5052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9921"/>
                <a:gridCol w="1745845"/>
                <a:gridCol w="5455767"/>
              </a:tblGrid>
              <a:tr h="2971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Écran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État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Ce qui bloque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16161"/>
                          </a:solidFill>
                          <a:latin typeface="Segoe UI"/>
                        </a:rPr>
                        <a:t>Accueil · Favoris · Recherche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3A047"/>
                          </a:solidFill>
                          <a:latin typeface="Segoe UI"/>
                        </a:rPr>
                        <a:t>Livré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16161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16161"/>
                          </a:solidFill>
                          <a:latin typeface="Segoe UI"/>
                        </a:rPr>
                        <a:t>Connexion</a:t>
                      </a:r>
                    </a:p>
                  </a:txBody>
                  <a:tcPr marT="27432" marB="2743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B8C00"/>
                          </a:solidFill>
                          <a:latin typeface="Segoe UI"/>
                        </a:rPr>
                        <a:t>Partiel</a:t>
                      </a:r>
                    </a:p>
                  </a:txBody>
                  <a:tcPr marT="27432" marB="2743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16161"/>
                          </a:solidFill>
                          <a:latin typeface="Segoe UI"/>
                        </a:rPr>
                        <a:t>Thème par défaut, à aligner sur la charte</a:t>
                      </a:r>
                    </a:p>
                  </a:txBody>
                  <a:tcPr marT="27432" marB="27432">
                    <a:solidFill>
                      <a:srgbClr val="EEF3F7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16161"/>
                          </a:solidFill>
                          <a:latin typeface="Segoe UI"/>
                        </a:rPr>
                        <a:t>Profil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3A047"/>
                          </a:solidFill>
                          <a:latin typeface="Segoe UI"/>
                        </a:rPr>
                        <a:t>Livré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16161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16161"/>
                          </a:solidFill>
                          <a:latin typeface="Segoe UI"/>
                        </a:rPr>
                        <a:t>Compétition · Évènements</a:t>
                      </a:r>
                    </a:p>
                  </a:txBody>
                  <a:tcPr marT="27432" marB="2743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3A047"/>
                          </a:solidFill>
                          <a:latin typeface="Segoe UI"/>
                        </a:rPr>
                        <a:t>Livré</a:t>
                      </a:r>
                    </a:p>
                  </a:txBody>
                  <a:tcPr marT="27432" marB="2743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16161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T="27432" marB="27432">
                    <a:solidFill>
                      <a:srgbClr val="EEF3F7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16161"/>
                          </a:solidFill>
                          <a:latin typeface="Segoe UI"/>
                        </a:rPr>
                        <a:t>Compétition · Clubs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3A047"/>
                          </a:solidFill>
                          <a:latin typeface="Segoe UI"/>
                        </a:rPr>
                        <a:t>Livré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16161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16161"/>
                          </a:solidFill>
                          <a:latin typeface="Segoe UI"/>
                        </a:rPr>
                        <a:t>Compétition · Points</a:t>
                      </a:r>
                    </a:p>
                  </a:txBody>
                  <a:tcPr marT="27432" marB="2743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53935"/>
                          </a:solidFill>
                          <a:latin typeface="Segoe UI"/>
                        </a:rPr>
                        <a:t>Non implémenté</a:t>
                      </a:r>
                    </a:p>
                  </a:txBody>
                  <a:tcPr marT="27432" marB="2743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16161"/>
                          </a:solidFill>
                          <a:latin typeface="Segoe UI"/>
                        </a:rPr>
                        <a:t>Endpoints de classement non documentés</a:t>
                      </a:r>
                    </a:p>
                  </a:txBody>
                  <a:tcPr marT="27432" marB="27432">
                    <a:solidFill>
                      <a:srgbClr val="EEF3F7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16161"/>
                          </a:solidFill>
                          <a:latin typeface="Segoe UI"/>
                        </a:rPr>
                        <a:t>Compétition · Programme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B8C00"/>
                          </a:solidFill>
                          <a:latin typeface="Segoe UI"/>
                        </a:rPr>
                        <a:t>Partiel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16161"/>
                          </a:solidFill>
                          <a:latin typeface="Segoe UI"/>
                        </a:rPr>
                        <a:t>Lit le programme local, pas le serveur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16161"/>
                          </a:solidFill>
                          <a:latin typeface="Segoe UI"/>
                        </a:rPr>
                        <a:t>Épreuve · Engagés</a:t>
                      </a:r>
                    </a:p>
                  </a:txBody>
                  <a:tcPr marT="27432" marB="2743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3A047"/>
                          </a:solidFill>
                          <a:latin typeface="Segoe UI"/>
                        </a:rPr>
                        <a:t>Livré</a:t>
                      </a:r>
                    </a:p>
                  </a:txBody>
                  <a:tcPr marT="27432" marB="2743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16161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T="27432" marB="27432">
                    <a:solidFill>
                      <a:srgbClr val="EEF3F7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16161"/>
                          </a:solidFill>
                          <a:latin typeface="Segoe UI"/>
                        </a:rPr>
                        <a:t>Marshalling (présence, scan)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B8C00"/>
                          </a:solidFill>
                          <a:latin typeface="Segoe UI"/>
                        </a:rPr>
                        <a:t>Partiel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16161"/>
                          </a:solidFill>
                          <a:latin typeface="Segoe UI"/>
                        </a:rPr>
                        <a:t>Présence locale, non partagée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16161"/>
                          </a:solidFill>
                          <a:latin typeface="Segoe UI"/>
                        </a:rPr>
                        <a:t>Épreuve · Séries</a:t>
                      </a:r>
                    </a:p>
                  </a:txBody>
                  <a:tcPr marT="27432" marB="2743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3A047"/>
                          </a:solidFill>
                          <a:latin typeface="Segoe UI"/>
                        </a:rPr>
                        <a:t>Livré</a:t>
                      </a:r>
                    </a:p>
                  </a:txBody>
                  <a:tcPr marT="27432" marB="2743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16161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T="27432" marB="27432">
                    <a:solidFill>
                      <a:srgbClr val="EEF3F7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16161"/>
                          </a:solidFill>
                          <a:latin typeface="Segoe UI"/>
                        </a:rPr>
                        <a:t>Épreuve · Résumé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E9E9E"/>
                          </a:solidFill>
                          <a:latin typeface="Segoe UI"/>
                        </a:rPr>
                        <a:t>Coquille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16161"/>
                          </a:solidFill>
                          <a:latin typeface="Segoe UI"/>
                        </a:rPr>
                        <a:t>Dépend des résultats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16161"/>
                          </a:solidFill>
                          <a:latin typeface="Segoe UI"/>
                        </a:rPr>
                        <a:t>Course</a:t>
                      </a:r>
                    </a:p>
                  </a:txBody>
                  <a:tcPr marT="27432" marB="2743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9E9E9E"/>
                          </a:solidFill>
                          <a:latin typeface="Segoe UI"/>
                        </a:rPr>
                        <a:t>Coquille</a:t>
                      </a:r>
                    </a:p>
                  </a:txBody>
                  <a:tcPr marT="27432" marB="2743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16161"/>
                          </a:solidFill>
                          <a:latin typeface="Segoe UI"/>
                        </a:rPr>
                        <a:t>Endpoints de résultats non documentés</a:t>
                      </a:r>
                    </a:p>
                  </a:txBody>
                  <a:tcPr marT="27432" marB="27432">
                    <a:solidFill>
                      <a:srgbClr val="EEF3F7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16161"/>
                          </a:solidFill>
                          <a:latin typeface="Segoe UI"/>
                        </a:rPr>
                        <a:t>Programme · Structure + éditeur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3A047"/>
                          </a:solidFill>
                          <a:latin typeface="Segoe UI"/>
                        </a:rPr>
                        <a:t>Livré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16161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16161"/>
                          </a:solidFill>
                          <a:latin typeface="Segoe UI"/>
                        </a:rPr>
                        <a:t>Programme · Sites + horaires</a:t>
                      </a:r>
                    </a:p>
                  </a:txBody>
                  <a:tcPr marT="27432" marB="2743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3A047"/>
                          </a:solidFill>
                          <a:latin typeface="Segoe UI"/>
                        </a:rPr>
                        <a:t>Livré</a:t>
                      </a:r>
                    </a:p>
                  </a:txBody>
                  <a:tcPr marT="27432" marB="2743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16161"/>
                          </a:solidFill>
                          <a:latin typeface="Segoe UI"/>
                        </a:rPr>
                        <a:t>Persistance locale uniquement</a:t>
                      </a:r>
                    </a:p>
                  </a:txBody>
                  <a:tcPr marT="27432" marB="27432">
                    <a:solidFill>
                      <a:srgbClr val="EEF3F7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16161"/>
                          </a:solidFill>
                          <a:latin typeface="Segoe UI"/>
                        </a:rPr>
                        <a:t>Tirage des séries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B8C00"/>
                          </a:solidFill>
                          <a:latin typeface="Segoe UI"/>
                        </a:rPr>
                        <a:t>Partiel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16161"/>
                          </a:solidFill>
                          <a:latin typeface="Segoe UI"/>
                        </a:rPr>
                        <a:t>Aucune écriture serveur possible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16161"/>
                          </a:solidFill>
                          <a:latin typeface="Segoe UI"/>
                        </a:rPr>
                        <a:t>Bracelets RFID</a:t>
                      </a:r>
                    </a:p>
                  </a:txBody>
                  <a:tcPr marT="27432" marB="2743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3A047"/>
                          </a:solidFill>
                          <a:latin typeface="Segoe UI"/>
                        </a:rPr>
                        <a:t>Livré</a:t>
                      </a:r>
                    </a:p>
                  </a:txBody>
                  <a:tcPr marT="27432" marB="2743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616161"/>
                          </a:solidFill>
                          <a:latin typeface="Segoe UI"/>
                        </a:rPr>
                        <a:t>Nécessite un téléphone NFC</a:t>
                      </a:r>
                    </a:p>
                  </a:txBody>
                  <a:tcPr marT="27432" marB="27432"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RESTE À FAIRE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Chantiers fonctionnels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8200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212121"/>
                </a:solidFill>
                <a:latin typeface="Segoe UI"/>
              </a:rPr>
              <a:t>Par ordre d'impact sur une compétition réelle.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29383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74519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1 · Résultats live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Saisie des temps de nage et des classements de plage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Consultation des résultats d'une course, abandons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FB8C00"/>
                </a:solidFill>
                <a:latin typeface="Segoe UI"/>
              </a:rPr>
              <a:t>⚠  Quatre appels à câbler dès que la FFSS documente ses endpoints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410711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3355847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2 · Partage entre appareils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Programme, séries et présence sur un serveur commun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Sans ça, un seul téléphone pilote la journée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0167" y="1929383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1335" y="1874519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3 · Classements / Points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Clubs, individuel, relais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L'interface est prête, il manque la source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70167" y="3410711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1335" y="3355847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4 · Écrans à remplir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Course : affichage et saisie des résultats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Résumé d'épreuve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RESTE À FAIRE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Chantiers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8200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212121"/>
                </a:solidFill>
                <a:latin typeface="Segoe UI"/>
              </a:rPr>
              <a:t>Rien de bloquant, mais à traiter avant d'ouvrir le code à d'autres contributeurs.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29383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74519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Cohérence visuelle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L'écran de connexion est encore sur le thème par défaut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Quelques dialogues utilisent la palette Material et non la charte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410711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3355847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Dette identifiée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L'écran de créneau hérité fait 634 lignes — à découper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Il pilote encore ses dialogues depuis le controller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0167" y="1929383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1335" y="1874519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Typage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La discipline est reconnue par comparaison de chaînes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À remplacer par une énumération typée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70167" y="3410711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1335" y="3355847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Ménage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Trois routes déclarées mais jamais branchées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Trois controllers historiques hors du canal de messages unifié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CCE5FA"/>
                </a:solidFill>
                <a:latin typeface="Segoe UI"/>
              </a:rPr>
              <a:t>SUITE</a:t>
            </a:r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Segoe UI"/>
              </a:rPr>
              <a:t>Prochaines étapes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89304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234440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Court terme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[Ce que tu veux livrer dans les prochaines semaines]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770632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715768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Ce qu'il faut de la FFSS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[Endpoints à obtenir, interlocuteur, échéance]</a:t>
            </a:r>
          </a:p>
        </p:txBody>
      </p:sp>
      <p:sp>
        <p:nvSpPr>
          <p:cNvPr id="9" name="Rectangle 8"/>
          <p:cNvSpPr/>
          <p:nvPr/>
        </p:nvSpPr>
        <p:spPr>
          <a:xfrm>
            <a:off x="6370167" y="1289304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71335" y="1234440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Test en conditions réelles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[Quelle compétition, quelle date]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0167" y="2770632"/>
            <a:ext cx="54864" cy="256032"/>
          </a:xfrm>
          <a:prstGeom prst="rect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1335" y="2715768"/>
            <a:ext cx="493455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12121"/>
                </a:solidFill>
                <a:latin typeface="Segoe UI"/>
              </a:rPr>
              <a:t>Moyens</a:t>
            </a:r>
          </a:p>
          <a:p>
            <a:pPr algn="l">
              <a:spcBef>
                <a:spcPts val="700"/>
              </a:spcBef>
            </a:pPr>
            <a:r>
              <a:rPr sz="1200" b="0">
                <a:solidFill>
                  <a:srgbClr val="616161"/>
                </a:solidFill>
                <a:latin typeface="Segoe UI"/>
              </a:rPr>
              <a:t>·  [Temps, matériel NFC, personnes]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623560"/>
            <a:ext cx="10820095" cy="411480"/>
          </a:xfrm>
          <a:prstGeom prst="roundRect">
            <a:avLst/>
          </a:prstGeom>
          <a:solidFill>
            <a:srgbClr val="FFF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8A6200"/>
                </a:solidFill>
                <a:latin typeface="Segoe UI"/>
              </a:rPr>
              <a:t>  [À COMPLÉTER]  trame à remplir : la roadmap dépend de ce que la FFSS peut ouvrir côté API.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LiveFFSS · Démonstration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>
                <a:solidFill>
                  <a:srgbClr val="9E9E9E"/>
                </a:solidFill>
                <a:latin typeface="Segoe U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5400" b="1">
                <a:solidFill>
                  <a:srgbClr val="FFFFFF"/>
                </a:solidFill>
                <a:latin typeface="Segoe UI"/>
              </a:rPr>
              <a:t>Questions</a:t>
            </a: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E3F2FD"/>
                </a:solidFill>
                <a:latin typeface="Segoe UI"/>
              </a:rPr>
              <a:t>Merci.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